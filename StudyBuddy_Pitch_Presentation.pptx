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5486400" cy="411480"/>
          </a:xfrm>
          <a:prstGeom prst="roundRect">
            <a:avLst/>
          </a:prstGeom>
          <a:solidFill>
            <a:srgbClr val="280A19"/>
          </a:solidFill>
          <a:ln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0055"/>
                </a:solidFill>
              </a:defRPr>
            </a:pPr>
            <a:r>
              <a:t>⚡ QUALCOMM® SNAPDRAGON® AI LAB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00E5FF"/>
                </a:solidFill>
              </a:defRPr>
            </a:pPr>
            <a:r>
              <a:t>StudyBuddy AI</a:t>
            </a:r>
          </a:p>
          <a:p>
            <a:pPr>
              <a:defRPr sz="2400" b="1">
                <a:solidFill>
                  <a:srgbClr val="F0F5FF"/>
                </a:solidFill>
              </a:defRPr>
            </a:pPr>
            <a:r>
              <a:t>Next-Generation Intelligent On-Device Study Companion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7472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8CA0BE"/>
                </a:solidFill>
              </a:defRPr>
            </a:pPr>
            <a:r>
              <a:t>Engineered specifically for Snapdragon® X Elite &amp; X Plus PCs running Windows 11 on ARM64.</a:t>
            </a:r>
            <a:br/>
            <a:r>
              <a:t>Delivers 100% private, zero-latency AI tutoring, cited PDF Question Answering, and instant Quiz Generation powered by Qualcomm AI Hub on the 45 TOPS Hexagon™ NPU.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937760"/>
            <a:ext cx="3108960" cy="1097280"/>
          </a:xfrm>
          <a:prstGeom prst="roundRect">
            <a:avLst/>
          </a:prstGeom>
          <a:solidFill>
            <a:srgbClr val="0C2040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8CA0BE"/>
                </a:solidFill>
              </a:defRPr>
            </a:pPr>
            <a:r>
              <a:t>Hardware Target</a:t>
            </a:r>
          </a:p>
          <a:p>
            <a:pPr>
              <a:defRPr sz="1400" b="1">
                <a:solidFill>
                  <a:srgbClr val="00E5FF"/>
                </a:solidFill>
              </a:defRPr>
            </a:pPr>
            <a:r>
              <a:t>Snapdragon X Elite</a:t>
            </a:r>
            <a:br/>
            <a:r>
              <a:t>Qualcomm Hexagon NPU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4937760"/>
            <a:ext cx="3108960" cy="1097280"/>
          </a:xfrm>
          <a:prstGeom prst="roundRect">
            <a:avLst/>
          </a:prstGeom>
          <a:solidFill>
            <a:srgbClr val="0C2040"/>
          </a:solidFill>
          <a:ln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8CA0BE"/>
                </a:solidFill>
              </a:defRPr>
            </a:pPr>
            <a:r>
              <a:t>AI Model Engine</a:t>
            </a:r>
          </a:p>
          <a:p>
            <a:pPr>
              <a:defRPr sz="1400" b="1">
                <a:solidFill>
                  <a:srgbClr val="FF0055"/>
                </a:solidFill>
              </a:defRPr>
            </a:pPr>
            <a:r>
              <a:t>Llama 3.2 3B Instruct</a:t>
            </a:r>
            <a:br/>
            <a:r>
              <a:t>INT4 QNN ONNX Runtime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4937760"/>
            <a:ext cx="3108960" cy="1097280"/>
          </a:xfrm>
          <a:prstGeom prst="roundRect">
            <a:avLst/>
          </a:prstGeom>
          <a:solidFill>
            <a:srgbClr val="0C2040"/>
          </a:solidFill>
          <a:ln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8CA0BE"/>
                </a:solidFill>
              </a:defRPr>
            </a:pPr>
            <a:r>
              <a:t>Performance Metric</a:t>
            </a:r>
          </a:p>
          <a:p>
            <a:pPr>
              <a:defRPr sz="1400" b="1">
                <a:solidFill>
                  <a:srgbClr val="00FF9D"/>
                </a:solidFill>
              </a:defRPr>
            </a:pPr>
            <a:r>
              <a:t>45 TOPS Compute</a:t>
            </a:r>
            <a:br/>
            <a:r>
              <a:t>17.8ms Latency • 4.2W Draw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114800" cy="320040"/>
          </a:xfrm>
          <a:prstGeom prst="roundRect">
            <a:avLst/>
          </a:prstGeom>
          <a:solidFill>
            <a:srgbClr val="230F1E"/>
          </a:solidFill>
          <a:ln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0055"/>
                </a:solidFill>
              </a:defRPr>
            </a:pPr>
            <a:r>
              <a:t>⚡ SNAPDRAGON® AI LAB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5FF"/>
                </a:solidFill>
              </a:defRPr>
            </a:pPr>
            <a:r>
              <a:t>The Problem: Why Cloud AI Fails Modern Students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2011680"/>
          </a:xfrm>
          <a:prstGeom prst="roundRect">
            <a:avLst/>
          </a:prstGeom>
          <a:solidFill>
            <a:srgbClr val="0C2040"/>
          </a:solidFill>
          <a:ln>
            <a:solidFill>
              <a:srgbClr val="FF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0F5FF"/>
                </a:solidFill>
              </a:defRPr>
            </a:pPr>
            <a:r>
              <a:t>📡 Spotty Connectivity &amp; Latency</a:t>
            </a:r>
          </a:p>
          <a:p>
            <a:pPr>
              <a:defRPr sz="1300">
                <a:solidFill>
                  <a:srgbClr val="8CA0BE"/>
                </a:solidFill>
              </a:defRPr>
            </a:pPr>
            <a:r>
              <a:t>Classrooms, lecture halls, public transit, and dorms frequently suffer from congested or unavailable Wi-Fi. 350ms–1500ms cloud latency breaks the natural rhythm of tutoring and problem-solving.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737360"/>
            <a:ext cx="5120640" cy="2011680"/>
          </a:xfrm>
          <a:prstGeom prst="roundRect">
            <a:avLst/>
          </a:prstGeom>
          <a:solidFill>
            <a:srgbClr val="0C2040"/>
          </a:solidFill>
          <a:ln>
            <a:solidFill>
              <a:srgbClr val="00B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0F5FF"/>
                </a:solidFill>
              </a:defRPr>
            </a:pPr>
            <a:r>
              <a:t>🔒 Student Privacy &amp; Academic Security</a:t>
            </a:r>
          </a:p>
          <a:p>
            <a:pPr>
              <a:defRPr sz="1300">
                <a:solidFill>
                  <a:srgbClr val="8CA0BE"/>
                </a:solidFill>
              </a:defRPr>
            </a:pPr>
            <a:r>
              <a:t>Students must upload unreleased research, personal lecture notes, and study guides to cloud servers, exposing proprietary materials and personal study habits to third-party data collection.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120640" cy="2011680"/>
          </a:xfrm>
          <a:prstGeom prst="roundRect">
            <a:avLst/>
          </a:prstGeom>
          <a:solidFill>
            <a:srgbClr val="0C2040"/>
          </a:solidFill>
          <a:ln>
            <a:solidFill>
              <a:srgbClr val="FF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0F5FF"/>
                </a:solidFill>
              </a:defRPr>
            </a:pPr>
            <a:r>
              <a:t>🔋 Massive Battery Drain</a:t>
            </a:r>
          </a:p>
          <a:p>
            <a:pPr>
              <a:defRPr sz="1300">
                <a:solidFill>
                  <a:srgbClr val="8CA0BE"/>
                </a:solidFill>
              </a:defRPr>
            </a:pPr>
            <a:r>
              <a:t>Continuous high-bandwidth Wi-Fi radio transmission and cloud video/chat streaming rapidly depletes laptop battery life during long academic days.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023360"/>
            <a:ext cx="5120640" cy="2011680"/>
          </a:xfrm>
          <a:prstGeom prst="roundRect">
            <a:avLst/>
          </a:prstGeom>
          <a:solidFill>
            <a:srgbClr val="0C2040"/>
          </a:solidFill>
          <a:ln>
            <a:solidFill>
              <a:srgbClr val="00B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0F5FF"/>
                </a:solidFill>
              </a:defRPr>
            </a:pPr>
            <a:r>
              <a:t>💳 Paywalls &amp; Strict Rate Limits</a:t>
            </a:r>
          </a:p>
          <a:p>
            <a:pPr>
              <a:defRPr sz="1300">
                <a:solidFill>
                  <a:srgbClr val="8CA0BE"/>
                </a:solidFill>
              </a:defRPr>
            </a:pPr>
            <a:r>
              <a:t>Cloud APIs impose token billing or rigid rate limits (HTTP 429 Too Many Requests) right during critical exam preparation weeks.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114800" cy="320040"/>
          </a:xfrm>
          <a:prstGeom prst="roundRect">
            <a:avLst/>
          </a:prstGeom>
          <a:solidFill>
            <a:srgbClr val="230F1E"/>
          </a:solidFill>
          <a:ln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0055"/>
                </a:solidFill>
              </a:defRPr>
            </a:pPr>
            <a:r>
              <a:t>⚡ SNAPDRAGON® AI LAB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5FF"/>
                </a:solidFill>
              </a:defRPr>
            </a:pPr>
            <a:r>
              <a:t>The Solution: 100% On-Device Snapdragon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2011680"/>
          </a:xfrm>
          <a:prstGeom prst="roundRect">
            <a:avLst/>
          </a:prstGeom>
          <a:solidFill>
            <a:srgbClr val="0C2040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E5FF"/>
                </a:solidFill>
              </a:defRPr>
            </a:pPr>
            <a:r>
              <a:t>⚡ 45 TOPS Hexagon NPU</a:t>
            </a:r>
          </a:p>
          <a:p>
            <a:pPr>
              <a:defRPr sz="1300">
                <a:solidFill>
                  <a:srgbClr val="F0F5FF"/>
                </a:solidFill>
              </a:defRPr>
            </a:pPr>
            <a:r>
              <a:t>Offloads LLM inference and vector math directly onto Qualcomm's dedicated Hexagon NPU, freeing the Oryon CPU and Adreno GPU.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737360"/>
            <a:ext cx="5120640" cy="2011680"/>
          </a:xfrm>
          <a:prstGeom prst="roundRect">
            <a:avLst/>
          </a:prstGeom>
          <a:solidFill>
            <a:srgbClr val="0C2040"/>
          </a:solidFill>
          <a:ln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FF9D"/>
                </a:solidFill>
              </a:defRPr>
            </a:pPr>
            <a:r>
              <a:t>🚀 Instant ~18ms Response</a:t>
            </a:r>
          </a:p>
          <a:p>
            <a:pPr>
              <a:defRPr sz="1300">
                <a:solidFill>
                  <a:srgbClr val="F0F5FF"/>
                </a:solidFill>
              </a:defRPr>
            </a:pPr>
            <a:r>
              <a:t>Zero round-trip cloud latency. Instant time-to-first-token provides an instantaneous, interactive dialogue.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120640" cy="2011680"/>
          </a:xfrm>
          <a:prstGeom prst="roundRect">
            <a:avLst/>
          </a:prstGeom>
          <a:solidFill>
            <a:srgbClr val="0C2040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E5FF"/>
                </a:solidFill>
              </a:defRPr>
            </a:pPr>
            <a:r>
              <a:t>🛡️ 100% On-Device Privacy</a:t>
            </a:r>
          </a:p>
          <a:p>
            <a:pPr>
              <a:defRPr sz="1300">
                <a:solidFill>
                  <a:srgbClr val="F0F5FF"/>
                </a:solidFill>
              </a:defRPr>
            </a:pPr>
            <a:r>
              <a:t>Textbooks, slides, and notes never leave the student's PC. No cloud telemetry, no data scraping.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023360"/>
            <a:ext cx="5120640" cy="2011680"/>
          </a:xfrm>
          <a:prstGeom prst="roundRect">
            <a:avLst/>
          </a:prstGeom>
          <a:solidFill>
            <a:srgbClr val="0C2040"/>
          </a:solidFill>
          <a:ln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FF9D"/>
                </a:solidFill>
              </a:defRPr>
            </a:pPr>
            <a:r>
              <a:t>🔋 74% Power Savings</a:t>
            </a:r>
          </a:p>
          <a:p>
            <a:pPr>
              <a:defRPr sz="1300">
                <a:solidFill>
                  <a:srgbClr val="F0F5FF"/>
                </a:solidFill>
              </a:defRPr>
            </a:pPr>
            <a:r>
              <a:t>Operates within a 4.2W power envelope, enabling 16+ hours of uninterrupted continuous AI-assisted studying on battery.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114800" cy="320040"/>
          </a:xfrm>
          <a:prstGeom prst="roundRect">
            <a:avLst/>
          </a:prstGeom>
          <a:solidFill>
            <a:srgbClr val="230F1E"/>
          </a:solidFill>
          <a:ln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0055"/>
                </a:solidFill>
              </a:defRPr>
            </a:pPr>
            <a:r>
              <a:t>⚡ SNAPDRAGON® AI LAB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5FF"/>
                </a:solidFill>
              </a:defRPr>
            </a:pPr>
            <a:r>
              <a:t>Key Working Features in StudyBuddy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2103120"/>
          </a:xfrm>
          <a:prstGeom prst="roundRect">
            <a:avLst/>
          </a:prstGeom>
          <a:solidFill>
            <a:srgbClr val="0C2040"/>
          </a:solidFill>
          <a:ln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0055"/>
                </a:solidFill>
              </a:defRPr>
            </a:pPr>
            <a:r>
              <a:t>📄 PDF Upload &amp; Cited Q&amp;A</a:t>
            </a:r>
          </a:p>
          <a:p>
            <a:pPr>
              <a:defRPr sz="1100">
                <a:solidFill>
                  <a:srgbClr val="8CA0BE"/>
                </a:solidFill>
              </a:defRPr>
            </a:pPr>
            <a:r>
              <a:t>Drag-and-drop lecture slides &amp; textbooks. On-device RAG answers questions with verbatim source citations in &lt;25ms.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737360"/>
            <a:ext cx="3383280" cy="2103120"/>
          </a:xfrm>
          <a:prstGeom prst="roundRect">
            <a:avLst/>
          </a:prstGeom>
          <a:solidFill>
            <a:srgbClr val="0C2040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E5FF"/>
                </a:solidFill>
              </a:defRPr>
            </a:pPr>
            <a:r>
              <a:t>🎯 On-Device AI Quiz Generator</a:t>
            </a:r>
          </a:p>
          <a:p>
            <a:pPr>
              <a:defRPr sz="1100">
                <a:solidFill>
                  <a:srgbClr val="8CA0BE"/>
                </a:solidFill>
              </a:defRPr>
            </a:pPr>
            <a:r>
              <a:t>Generate tailored 5-question multiple choice quizzes from any topic or directly from uploaded PDF materials.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737360"/>
            <a:ext cx="3383280" cy="2103120"/>
          </a:xfrm>
          <a:prstGeom prst="roundRect">
            <a:avLst/>
          </a:prstGeom>
          <a:solidFill>
            <a:srgbClr val="0C2040"/>
          </a:solidFill>
          <a:ln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0055"/>
                </a:solidFill>
              </a:defRPr>
            </a:pPr>
            <a:r>
              <a:t>💬 Streaming AI Tutor Chat</a:t>
            </a:r>
          </a:p>
          <a:p>
            <a:pPr>
              <a:defRPr sz="1100">
                <a:solidFill>
                  <a:srgbClr val="8CA0BE"/>
                </a:solidFill>
              </a:defRPr>
            </a:pPr>
            <a:r>
              <a:t>Adaptive concept explanation with student level scaling (Grade 1-10 to PhD) with zero cloud dependency.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3383280" cy="2103120"/>
          </a:xfrm>
          <a:prstGeom prst="roundRect">
            <a:avLst/>
          </a:prstGeom>
          <a:solidFill>
            <a:srgbClr val="0C2040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E5FF"/>
                </a:solidFill>
              </a:defRPr>
            </a:pPr>
            <a:r>
              <a:t>🚀 Qualcomm AI Hub Telemetry</a:t>
            </a:r>
          </a:p>
          <a:p>
            <a:pPr>
              <a:defRPr sz="1100">
                <a:solidFill>
                  <a:srgbClr val="8CA0BE"/>
                </a:solidFill>
              </a:defRPr>
            </a:pPr>
            <a:r>
              <a:t>Built-in NPU hardware dashboard, live speed benchmarking simulator, and model compilation code.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4023360"/>
            <a:ext cx="3383280" cy="2103120"/>
          </a:xfrm>
          <a:prstGeom prst="roundRect">
            <a:avLst/>
          </a:prstGeom>
          <a:solidFill>
            <a:srgbClr val="0C2040"/>
          </a:solidFill>
          <a:ln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0055"/>
                </a:solidFill>
              </a:defRPr>
            </a:pPr>
            <a:r>
              <a:t>🔒 1-Click Offline Guest Access</a:t>
            </a:r>
          </a:p>
          <a:p>
            <a:pPr>
              <a:defRPr sz="1100">
                <a:solidFill>
                  <a:srgbClr val="8CA0BE"/>
                </a:solidFill>
              </a:defRPr>
            </a:pPr>
            <a:r>
              <a:t>Immediate zero-barrier exploration for evaluators and students without requiring login or internet.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4023360"/>
            <a:ext cx="3383280" cy="2103120"/>
          </a:xfrm>
          <a:prstGeom prst="roundRect">
            <a:avLst/>
          </a:prstGeom>
          <a:solidFill>
            <a:srgbClr val="0C2040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E5FF"/>
                </a:solidFill>
              </a:defRPr>
            </a:pPr>
            <a:r>
              <a:t>🤖 Personalized AI Study Coach</a:t>
            </a:r>
          </a:p>
          <a:p>
            <a:pPr>
              <a:defRPr sz="1100">
                <a:solidFill>
                  <a:srgbClr val="8CA0BE"/>
                </a:solidFill>
              </a:defRPr>
            </a:pPr>
            <a:r>
              <a:t>Integrated Scikit-Learn KMeans clustering model analyzing quiz performance to recommend study focuses.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114800" cy="320040"/>
          </a:xfrm>
          <a:prstGeom prst="roundRect">
            <a:avLst/>
          </a:prstGeom>
          <a:solidFill>
            <a:srgbClr val="230F1E"/>
          </a:solidFill>
          <a:ln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0055"/>
                </a:solidFill>
              </a:defRPr>
            </a:pPr>
            <a:r>
              <a:t>⚡ SNAPDRAGON® AI LAB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5FF"/>
                </a:solidFill>
              </a:defRPr>
            </a:pPr>
            <a:r>
              <a:t>Architecture: Qualcomm AI Hub to Hexagon NPU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60320" cy="1828800"/>
          </a:xfrm>
          <a:prstGeom prst="roundRect">
            <a:avLst/>
          </a:prstGeom>
          <a:solidFill>
            <a:srgbClr val="0C2040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E5FF"/>
                </a:solidFill>
              </a:defRPr>
            </a:pPr>
            <a:r>
              <a:t>1. Open-Source Weights</a:t>
            </a:r>
          </a:p>
          <a:p>
            <a:pPr>
              <a:defRPr sz="1100">
                <a:solidFill>
                  <a:srgbClr val="F0F5FF"/>
                </a:solidFill>
              </a:defRPr>
            </a:pPr>
            <a:r>
              <a:t>Meta Llama-3.2-3B Instruct &amp; all-MiniLM-L6-v2 in FP16 PyTorch.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828800"/>
            <a:ext cx="2560320" cy="1828800"/>
          </a:xfrm>
          <a:prstGeom prst="roundRect">
            <a:avLst/>
          </a:prstGeom>
          <a:solidFill>
            <a:srgbClr val="0C2040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E5FF"/>
                </a:solidFill>
              </a:defRPr>
            </a:pPr>
            <a:r>
              <a:t>2. Qualcomm AI Hub</a:t>
            </a:r>
          </a:p>
          <a:p>
            <a:pPr>
              <a:defRPr sz="1100">
                <a:solidFill>
                  <a:srgbClr val="F0F5FF"/>
                </a:solidFill>
              </a:defRPr>
            </a:pPr>
            <a:r>
              <a:t>Compiled via qai_hub with INT4 (W4A16) weight-only quantization.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560320" cy="1828800"/>
          </a:xfrm>
          <a:prstGeom prst="roundRect">
            <a:avLst/>
          </a:prstGeom>
          <a:solidFill>
            <a:srgbClr val="0C2040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E5FF"/>
                </a:solidFill>
              </a:defRPr>
            </a:pPr>
            <a:r>
              <a:t>3. QNN Execution Provider</a:t>
            </a:r>
          </a:p>
          <a:p>
            <a:pPr>
              <a:defRPr sz="1100">
                <a:solidFill>
                  <a:srgbClr val="F0F5FF"/>
                </a:solidFill>
              </a:defRPr>
            </a:pPr>
            <a:r>
              <a:t>Direct hardware execution on Hexagon Tensor Processor via QnnHtp.dll.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828800"/>
            <a:ext cx="2560320" cy="1828800"/>
          </a:xfrm>
          <a:prstGeom prst="roundRect">
            <a:avLst/>
          </a:prstGeom>
          <a:solidFill>
            <a:srgbClr val="0C2040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E5FF"/>
                </a:solidFill>
              </a:defRPr>
            </a:pPr>
            <a:r>
              <a:t>4. StudyBuddy Local App</a:t>
            </a:r>
          </a:p>
          <a:p>
            <a:pPr>
              <a:defRPr sz="1100">
                <a:solidFill>
                  <a:srgbClr val="F0F5FF"/>
                </a:solidFill>
              </a:defRPr>
            </a:pPr>
            <a:r>
              <a:t>Windows 11 on ARM64 native runtime delivering 38.4 tokens/second.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698480" cy="2286000"/>
          </a:xfrm>
          <a:prstGeom prst="roundRect">
            <a:avLst/>
          </a:prstGeom>
          <a:solidFill>
            <a:srgbClr val="0C2040"/>
          </a:solidFill>
          <a:ln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F9D"/>
                </a:solidFill>
              </a:defRPr>
            </a:pPr>
            <a:r>
              <a:t>⚡ Benchmark Comparison: Snapdragon Hexagon NPU vs Cloud &amp; Discrete GPUs</a:t>
            </a:r>
          </a:p>
          <a:p>
            <a:pPr>
              <a:defRPr sz="1200">
                <a:solidFill>
                  <a:srgbClr val="F0F5FF"/>
                </a:solidFill>
              </a:defRPr>
            </a:pPr>
            <a:r>
              <a:t>• Inference Latency: Snapdragon Hexagon NPU: 17.8 ms  |  Cloud Roundtrip: 340.0 ms (19x Slower)  |  CPU Emulation: 122.0 ms</a:t>
            </a:r>
          </a:p>
          <a:p>
            <a:pPr>
              <a:defRPr sz="1200">
                <a:solidFill>
                  <a:srgbClr val="F0F5FF"/>
                </a:solidFill>
              </a:defRPr>
            </a:pPr>
            <a:r>
              <a:t>• Power Draw: Hexagon NPU: 4.2 Watts  |  Discrete Laptop GPU: 55–90 Watts  |  Wi-Fi Radio: 12–18 Watts</a:t>
            </a:r>
          </a:p>
          <a:p>
            <a:pPr>
              <a:defRPr sz="1200">
                <a:solidFill>
                  <a:srgbClr val="F0F5FF"/>
                </a:solidFill>
              </a:defRPr>
            </a:pPr>
            <a:r>
              <a:t>• Memory Footprint: INT4 Quantized: 1.42 GB LPDDR5X RAM  |  Unquantized FP16: 6.8 GB</a:t>
            </a:r>
          </a:p>
          <a:p>
            <a:pPr>
              <a:defRPr sz="1200">
                <a:solidFill>
                  <a:srgbClr val="F0F5FF"/>
                </a:solidFill>
              </a:defRPr>
            </a:pPr>
            <a:r>
              <a:t>• Battery Life: Continuous AI study: 16+ Hours on Snapdragon PC vs 1.8 Hours on discrete GPU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114800" cy="320040"/>
          </a:xfrm>
          <a:prstGeom prst="roundRect">
            <a:avLst/>
          </a:prstGeom>
          <a:solidFill>
            <a:srgbClr val="230F1E"/>
          </a:solidFill>
          <a:ln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0055"/>
                </a:solidFill>
              </a:defRPr>
            </a:pPr>
            <a:r>
              <a:t>⚡ SNAPDRAGON® AI LAB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5FF"/>
                </a:solidFill>
              </a:defRPr>
            </a:pPr>
            <a:r>
              <a:t>Future Scope &amp; Challenge Submission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0C2040"/>
          </a:solidFill>
          <a:ln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0055"/>
                </a:solidFill>
              </a:defRPr>
            </a:pPr>
            <a:r>
              <a:t>🔭 Future Roadmap for Snapdragon Copilot+ PCs</a:t>
            </a:r>
          </a:p>
          <a:p>
            <a:pPr>
              <a:defRPr sz="1200">
                <a:solidFill>
                  <a:srgbClr val="F0F5FF"/>
                </a:solidFill>
              </a:defRPr>
            </a:pPr>
            <a:r>
              <a:t>• Multimodal Vision on NPU: Integrate PaliGemma/LLaVA via Qualcomm AI Hub for instant textbook diagram and handwritten math solving.</a:t>
            </a:r>
          </a:p>
          <a:p>
            <a:pPr>
              <a:defRPr sz="1200">
                <a:solidFill>
                  <a:srgbClr val="F0F5FF"/>
                </a:solidFill>
              </a:defRPr>
            </a:pPr>
            <a:r>
              <a:t>• Hexagon Whisper Transcription: Real-time lecture transcription and summary using on-device Whisper model on laptop mic.</a:t>
            </a:r>
          </a:p>
          <a:p>
            <a:pPr>
              <a:defRPr sz="1200">
                <a:solidFill>
                  <a:srgbClr val="F0F5FF"/>
                </a:solidFill>
              </a:defRPr>
            </a:pPr>
            <a:r>
              <a:t>• Wi-Fi 7 Peer Study Mesh: Decentralized study rooms without internet using Snapdragon FastConnect 7800.</a:t>
            </a:r>
          </a:p>
          <a:p>
            <a:pPr>
              <a:defRPr sz="1200">
                <a:solidFill>
                  <a:srgbClr val="F0F5FF"/>
                </a:solidFill>
              </a:defRPr>
            </a:pPr>
            <a:r>
              <a:t>• 32k Long-Context Models: Expand to Llama 3.2 8B for entire book synthesis on 64GB Snapdragon X Elite models.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0C2040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E5FF"/>
                </a:solidFill>
              </a:defRPr>
            </a:pPr>
            <a:r>
              <a:t>🏆 Submission Deliverables &amp; Links</a:t>
            </a:r>
          </a:p>
          <a:p>
            <a:pPr>
              <a:defRPr sz="1200">
                <a:solidFill>
                  <a:srgbClr val="F0F5FF"/>
                </a:solidFill>
              </a:defRPr>
            </a:pPr>
            <a:r>
              <a:t>GitHub Repository:</a:t>
            </a:r>
            <a:br/>
            <a:r>
              <a:t>https://github.com/AbhishekPattnaik124/neurobuddy</a:t>
            </a:r>
            <a:br/>
          </a:p>
          <a:p>
            <a:pPr>
              <a:defRPr sz="1200">
                <a:solidFill>
                  <a:srgbClr val="F0F5FF"/>
                </a:solidFill>
              </a:defRPr>
            </a:pPr>
            <a:r>
              <a:t>Working Features:</a:t>
            </a:r>
            <a:br/>
            <a:r>
              <a:t>PDF QA with Citations, Quiz Generator, Local NPU Mode, Qualcomm AI Hub Panel</a:t>
            </a:r>
            <a:br/>
          </a:p>
          <a:p>
            <a:pPr>
              <a:defRPr sz="1200">
                <a:solidFill>
                  <a:srgbClr val="F0F5FF"/>
                </a:solidFill>
              </a:defRPr>
            </a:pPr>
            <a:r>
              <a:t>Hardware Optimization:</a:t>
            </a:r>
            <a:br/>
            <a:r>
              <a:t>Qualcomm Hexagon NPU (45 TOPS), INT4 Quantization, QNN Execution Provider</a:t>
            </a:r>
            <a:br/>
          </a:p>
          <a:p>
            <a:pPr>
              <a:defRPr sz="1200">
                <a:solidFill>
                  <a:srgbClr val="F0F5FF"/>
                </a:solidFill>
              </a:defRPr>
            </a:pPr>
            <a:r>
              <a:t>Live Demo Video:</a:t>
            </a:r>
            <a:br/>
            <a:r>
              <a:t>studybuddy_snapdragon_demo.mp4 (H.264 / 1280x720, 30fps)</a:t>
            </a:r>
            <a:br/>
          </a:p>
          <a:p>
            <a:pPr>
              <a:defRPr sz="1200">
                <a:solidFill>
                  <a:srgbClr val="F0F5FF"/>
                </a:solidFill>
              </a:defRPr>
            </a:pPr>
            <a:r>
              <a:t>Live Web App:</a:t>
            </a:r>
            <a:br/>
            <a:r>
              <a:t>https://neurobuddy-hegt.onrender.com</a:t>
            </a: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